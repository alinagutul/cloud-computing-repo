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74261-314A-584A-8752-9A1600F5CD26}" v="10" dt="2026-02-23T09:02:01.15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7"/>
  </p:normalViewPr>
  <p:slideViewPr>
    <p:cSldViewPr snapToGrid="0">
      <p:cViewPr varScale="1">
        <p:scale>
          <a:sx n="118" d="100"/>
          <a:sy n="118" d="100"/>
        </p:scale>
        <p:origin x="20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0BE9C-7A47-6844-BA0C-7C05D67BFFD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42562-4BA7-C242-81F0-6DF73F25C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5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«Облачные вычисления сегодня являются основой современной </a:t>
            </a:r>
            <a:r>
              <a:rPr lang="en-US" dirty="0"/>
              <a:t>IT-</a:t>
            </a:r>
            <a:r>
              <a:rPr lang="ru-RU" dirty="0"/>
              <a:t>инфраструктуры. Они позволяют компаниям не покупать дорогое оборудование, использовать ресурсы через интернет и оплачивать только фактическое потребление.</a:t>
            </a:r>
            <a:br>
              <a:rPr lang="ru-RU" dirty="0"/>
            </a:br>
            <a:r>
              <a:rPr lang="ru-RU" dirty="0"/>
              <a:t>Облачные сервисы ускоряют разработку, масштабирование систем и снижают затраты. Чтобы было удобнее работать, выделяют разные сервисные модели, о которых мы поговорим.»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6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«Cloud Computing — </a:t>
            </a:r>
            <a:r>
              <a:rPr lang="ru-RU" dirty="0"/>
              <a:t>это предоставление вычислительных ресурсов через интернет по требованию.</a:t>
            </a:r>
            <a:br>
              <a:rPr lang="ru-RU" dirty="0"/>
            </a:br>
            <a:r>
              <a:rPr lang="ru-RU" dirty="0"/>
              <a:t>Основные характеристики облака: доступ из любой точки, масштабируемость, оплата по модели </a:t>
            </a:r>
            <a:r>
              <a:rPr lang="en-US" dirty="0"/>
              <a:t>pay-as-you-go </a:t>
            </a:r>
            <a:r>
              <a:rPr lang="ru-RU" dirty="0"/>
              <a:t>и высокая доступность.</a:t>
            </a:r>
            <a:br>
              <a:rPr lang="ru-RU" dirty="0"/>
            </a:br>
            <a:r>
              <a:rPr lang="ru-RU" dirty="0"/>
              <a:t>Примеры ресурсов: серверы, базы данных, хранилища, приложения. Например, </a:t>
            </a:r>
            <a:r>
              <a:rPr lang="en-US" dirty="0"/>
              <a:t>Google Drive </a:t>
            </a:r>
            <a:r>
              <a:rPr lang="ru-RU" dirty="0"/>
              <a:t>позволяет хранить файлы без установки программного обеспечения.»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22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«Существует три основные модели: </a:t>
            </a:r>
            <a:r>
              <a:rPr lang="en-US" dirty="0"/>
              <a:t>IaaS, PaaS </a:t>
            </a:r>
            <a:r>
              <a:rPr lang="ru-RU" dirty="0"/>
              <a:t>и </a:t>
            </a:r>
            <a:r>
              <a:rPr lang="en-US" dirty="0"/>
              <a:t>SaaS.</a:t>
            </a:r>
            <a:br>
              <a:rPr lang="en-US" dirty="0"/>
            </a:br>
            <a:r>
              <a:rPr lang="ru-RU" dirty="0"/>
              <a:t>Главное различие — кто управляет системой: пользователь или облачный провайдер.</a:t>
            </a:r>
            <a:br>
              <a:rPr lang="ru-RU" dirty="0"/>
            </a:br>
            <a:r>
              <a:rPr lang="en-US" dirty="0"/>
              <a:t>IaaS — </a:t>
            </a:r>
            <a:r>
              <a:rPr lang="ru-RU" dirty="0"/>
              <a:t>инфраструктура, </a:t>
            </a:r>
            <a:r>
              <a:rPr lang="en-US" dirty="0"/>
              <a:t>PaaS — </a:t>
            </a:r>
            <a:r>
              <a:rPr lang="ru-RU" dirty="0"/>
              <a:t>платформа для разработки, </a:t>
            </a:r>
            <a:r>
              <a:rPr lang="en-US" dirty="0"/>
              <a:t>SaaS — </a:t>
            </a:r>
            <a:r>
              <a:rPr lang="ru-RU" dirty="0"/>
              <a:t>готовое приложение.</a:t>
            </a:r>
            <a:br>
              <a:rPr lang="ru-RU" dirty="0"/>
            </a:br>
            <a:r>
              <a:rPr lang="ru-RU" dirty="0"/>
              <a:t>Эту разницу удобно показать в виде пирамиды ответственности.»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7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«IaaS </a:t>
            </a:r>
            <a:r>
              <a:rPr lang="ru-RU" dirty="0"/>
              <a:t>предоставляет базовую </a:t>
            </a:r>
            <a:r>
              <a:rPr lang="en-US" dirty="0"/>
              <a:t>IT-</a:t>
            </a:r>
            <a:r>
              <a:rPr lang="ru-RU" dirty="0"/>
              <a:t>инфраструктуру: виртуальные серверы, сети и хранилища.</a:t>
            </a:r>
            <a:br>
              <a:rPr lang="ru-RU" dirty="0"/>
            </a:br>
            <a:r>
              <a:rPr lang="ru-RU" dirty="0"/>
              <a:t>Пользователь управляет операционной системой, приложениями и настройками.</a:t>
            </a:r>
            <a:br>
              <a:rPr lang="ru-RU" dirty="0"/>
            </a:br>
            <a:r>
              <a:rPr lang="ru-RU" dirty="0"/>
              <a:t>Примеры: </a:t>
            </a:r>
            <a:r>
              <a:rPr lang="en-US" dirty="0"/>
              <a:t>Amazon EC2, Azure Virtual Machines, Google Compute Engine.</a:t>
            </a:r>
            <a:br>
              <a:rPr lang="en-US" dirty="0"/>
            </a:br>
            <a:r>
              <a:rPr lang="ru-RU" dirty="0"/>
              <a:t>Используется для </a:t>
            </a:r>
            <a:r>
              <a:rPr lang="en-US" dirty="0"/>
              <a:t>DevOps, </a:t>
            </a:r>
            <a:r>
              <a:rPr lang="ru-RU" dirty="0"/>
              <a:t>тестовых сред и хостинга систем.»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65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«PaaS </a:t>
            </a:r>
            <a:r>
              <a:rPr lang="ru-RU" dirty="0"/>
              <a:t>предоставляет готовую платформу для разработки.</a:t>
            </a:r>
            <a:br>
              <a:rPr lang="ru-RU" dirty="0"/>
            </a:br>
            <a:r>
              <a:rPr lang="ru-RU" dirty="0"/>
              <a:t>Провайдер управляет инфраструктурой, ОС и средой выполнения, а разработчик отвечает только за код.</a:t>
            </a:r>
            <a:br>
              <a:rPr lang="ru-RU" dirty="0"/>
            </a:br>
            <a:r>
              <a:rPr lang="ru-RU" dirty="0"/>
              <a:t>Преимущества: быстрая разработка, автоматическое масштабирование, нет необходимости администрировать серверы.</a:t>
            </a:r>
            <a:br>
              <a:rPr lang="ru-RU" dirty="0"/>
            </a:br>
            <a:r>
              <a:rPr lang="ru-RU" dirty="0"/>
              <a:t>Примеры: </a:t>
            </a:r>
            <a:r>
              <a:rPr lang="en-US" dirty="0"/>
              <a:t>Google App Engine, Heroku, Azure App Services.»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14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«SaaS — </a:t>
            </a:r>
            <a:r>
              <a:rPr lang="ru-RU" dirty="0"/>
              <a:t>это готовые приложения через интернет. Пользователь просто использует программу, без установки и администрирования.</a:t>
            </a:r>
            <a:br>
              <a:rPr lang="ru-RU" dirty="0"/>
            </a:br>
            <a:r>
              <a:rPr lang="ru-RU" dirty="0"/>
              <a:t>Примеры: </a:t>
            </a:r>
            <a:r>
              <a:rPr lang="en-US" dirty="0"/>
              <a:t>Google Docs, Microsoft 365, Dropbox, Salesforce.</a:t>
            </a:r>
            <a:br>
              <a:rPr lang="en-US" dirty="0"/>
            </a:br>
            <a:r>
              <a:rPr lang="ru-RU" dirty="0"/>
              <a:t>Преимущества: доступ из браузера, автоматические обновления, простота использования для обычных пользователей.»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86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«На этом слайде мы сравниваем модели: кто управляет и для кого предназначена каждая.</a:t>
            </a:r>
            <a:br>
              <a:rPr lang="ru-RU" dirty="0"/>
            </a:br>
            <a:r>
              <a:rPr lang="en-US" dirty="0"/>
              <a:t>IaaS — </a:t>
            </a:r>
            <a:r>
              <a:rPr lang="ru-RU" dirty="0"/>
              <a:t>пользователь управляет почти всем, подходит для инженеров и </a:t>
            </a:r>
            <a:r>
              <a:rPr lang="en-US" dirty="0"/>
              <a:t>DevOps.</a:t>
            </a:r>
            <a:br>
              <a:rPr lang="en-US" dirty="0"/>
            </a:br>
            <a:r>
              <a:rPr lang="en-US" dirty="0"/>
              <a:t>PaaS — </a:t>
            </a:r>
            <a:r>
              <a:rPr lang="ru-RU" dirty="0"/>
              <a:t>часть управления берет на себя провайдер, подходит для разработчиков.</a:t>
            </a:r>
            <a:br>
              <a:rPr lang="ru-RU" dirty="0"/>
            </a:br>
            <a:r>
              <a:rPr lang="en-US" dirty="0"/>
              <a:t>SaaS — </a:t>
            </a:r>
            <a:r>
              <a:rPr lang="ru-RU" dirty="0"/>
              <a:t>провайдер управляет всем, подходит для обычных пользователей.</a:t>
            </a:r>
            <a:br>
              <a:rPr lang="ru-RU" dirty="0"/>
            </a:br>
            <a:r>
              <a:rPr lang="ru-RU" dirty="0"/>
              <a:t>Чем выше уровень, тем меньше технической ответственности для пользователя.»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9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«Облачные модели широко используются в индустрии:</a:t>
            </a:r>
          </a:p>
          <a:p>
            <a:r>
              <a:rPr lang="en-US" dirty="0"/>
              <a:t>Netflix </a:t>
            </a:r>
            <a:r>
              <a:rPr lang="ru-RU" dirty="0"/>
              <a:t>использует облако для стриминга и хранения данных,</a:t>
            </a:r>
          </a:p>
          <a:p>
            <a:r>
              <a:rPr lang="en-US" dirty="0"/>
              <a:t>Uber </a:t>
            </a:r>
            <a:r>
              <a:rPr lang="ru-RU" dirty="0"/>
              <a:t>обрабатывает запросы в реальном времени,</a:t>
            </a:r>
          </a:p>
          <a:p>
            <a:r>
              <a:rPr lang="ru-RU" dirty="0"/>
              <a:t>онлайн-банкинг работает через облака,</a:t>
            </a:r>
          </a:p>
          <a:p>
            <a:r>
              <a:rPr lang="ru-RU" dirty="0"/>
              <a:t>образовательные платформы и мобильные приложения используют </a:t>
            </a:r>
            <a:r>
              <a:rPr lang="en-US" dirty="0"/>
              <a:t>SaaS-</a:t>
            </a:r>
            <a:r>
              <a:rPr lang="ru-RU" dirty="0"/>
              <a:t>сервисы.</a:t>
            </a:r>
            <a:br>
              <a:rPr lang="ru-RU" dirty="0"/>
            </a:br>
            <a:r>
              <a:rPr lang="ru-RU" dirty="0"/>
              <a:t>Даже обычные пользователи ежедневно взаимодействуют с облаками.»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0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«Облачные технологии изменили подход к </a:t>
            </a:r>
            <a:r>
              <a:rPr lang="en-US" dirty="0"/>
              <a:t>IT-</a:t>
            </a:r>
            <a:r>
              <a:rPr lang="ru-RU" dirty="0"/>
              <a:t>инфраструктуре.</a:t>
            </a:r>
            <a:br>
              <a:rPr lang="ru-RU" dirty="0"/>
            </a:br>
            <a:r>
              <a:rPr lang="en-US" dirty="0"/>
              <a:t>IaaS, PaaS </a:t>
            </a:r>
            <a:r>
              <a:rPr lang="ru-RU" dirty="0"/>
              <a:t>и </a:t>
            </a:r>
            <a:r>
              <a:rPr lang="en-US" dirty="0"/>
              <a:t>SaaS </a:t>
            </a:r>
            <a:r>
              <a:rPr lang="ru-RU" dirty="0"/>
              <a:t>предоставляют разные уровни управления, позволяя компаниям выбирать подходящую модель под свои задачи.</a:t>
            </a:r>
            <a:br>
              <a:rPr lang="ru-RU" dirty="0"/>
            </a:br>
            <a:r>
              <a:rPr lang="ru-RU" dirty="0"/>
              <a:t>Облака ускоряют цифровую трансформацию и упрощают доступ к современным сервисам.</a:t>
            </a:r>
            <a:br>
              <a:rPr lang="ru-RU" dirty="0"/>
            </a:br>
            <a:r>
              <a:rPr lang="ru-RU" dirty="0"/>
              <a:t>Спасибо за внимание! Готовы ответить на ваши вопросы.»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42562-4BA7-C242-81F0-6DF73F25C8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0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4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25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8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2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8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5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2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33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09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96B81-06B3-9756-87E9-8454B16A7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100"/>
              <a:t>Модели сервисов в облачных вычислениях: </a:t>
            </a:r>
            <a:r>
              <a:rPr lang="en-US" sz="4100"/>
              <a:t>IaaS, PaaS, SaaS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8C62B-168C-6600-2EBD-D04B01B9D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7" y="5374291"/>
            <a:ext cx="4613053" cy="972532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1300" dirty="0"/>
              <a:t>Работу выполнила: </a:t>
            </a:r>
            <a:r>
              <a:rPr lang="en-US" sz="1300" dirty="0"/>
              <a:t>Gutul Alina</a:t>
            </a:r>
            <a:r>
              <a:rPr lang="ru-RU" sz="1300" dirty="0"/>
              <a:t> (</a:t>
            </a:r>
            <a:r>
              <a:rPr lang="en-US" sz="1300" dirty="0"/>
              <a:t>IAFR2302R)</a:t>
            </a:r>
            <a:endParaRPr lang="ru-RU" sz="1300" dirty="0"/>
          </a:p>
          <a:p>
            <a:pPr>
              <a:lnSpc>
                <a:spcPct val="120000"/>
              </a:lnSpc>
            </a:pPr>
            <a:r>
              <a:rPr lang="ru-RU" sz="1300" dirty="0"/>
              <a:t>Преподаватель: </a:t>
            </a:r>
            <a:r>
              <a:rPr lang="en-US" sz="1300" dirty="0"/>
              <a:t>Nichita Nartea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69637D7-33FF-5A5C-47FF-51B282020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21" r="18485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2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71CA6-69DE-7ECF-A4C4-5A824F8B7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ru-RU" dirty="0"/>
              <a:t>Введение (Актуальность)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6500-B130-8E2E-73D1-941E5A567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/>
              <a:t>Облачные вычисления стали основой современной </a:t>
            </a:r>
            <a:r>
              <a:rPr lang="en-US" dirty="0"/>
              <a:t>IT-</a:t>
            </a:r>
            <a:r>
              <a:rPr lang="ru-RU" dirty="0"/>
              <a:t>инфраструктуры.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Сегодня компании:</a:t>
            </a:r>
          </a:p>
          <a:p>
            <a:pPr>
              <a:lnSpc>
                <a:spcPct val="110000"/>
              </a:lnSpc>
            </a:pPr>
            <a:r>
              <a:rPr lang="ru-RU" dirty="0"/>
              <a:t>не покупают дорогое оборудование,</a:t>
            </a:r>
          </a:p>
          <a:p>
            <a:pPr>
              <a:lnSpc>
                <a:spcPct val="110000"/>
              </a:lnSpc>
            </a:pPr>
            <a:r>
              <a:rPr lang="ru-RU" dirty="0"/>
              <a:t>используют ресурсы через интернет,</a:t>
            </a:r>
          </a:p>
          <a:p>
            <a:pPr>
              <a:lnSpc>
                <a:spcPct val="110000"/>
              </a:lnSpc>
            </a:pPr>
            <a:r>
              <a:rPr lang="ru-RU" dirty="0"/>
              <a:t>платят только за фактическое использование.</a:t>
            </a:r>
          </a:p>
          <a:p>
            <a:pPr>
              <a:lnSpc>
                <a:spcPct val="110000"/>
              </a:lnSpc>
            </a:pPr>
            <a:r>
              <a:rPr lang="ru-RU" dirty="0"/>
              <a:t>Облачные сервисы позволяют:</a:t>
            </a:r>
          </a:p>
          <a:p>
            <a:pPr>
              <a:lnSpc>
                <a:spcPct val="110000"/>
              </a:lnSpc>
            </a:pPr>
            <a:r>
              <a:rPr lang="ru-RU" dirty="0"/>
              <a:t>быстрее разрабатывать приложения,</a:t>
            </a:r>
          </a:p>
          <a:p>
            <a:pPr>
              <a:lnSpc>
                <a:spcPct val="110000"/>
              </a:lnSpc>
            </a:pPr>
            <a:r>
              <a:rPr lang="ru-RU" dirty="0"/>
              <a:t>масштабировать системы,</a:t>
            </a:r>
          </a:p>
          <a:p>
            <a:pPr>
              <a:lnSpc>
                <a:spcPct val="110000"/>
              </a:lnSpc>
            </a:pPr>
            <a:r>
              <a:rPr lang="ru-RU" dirty="0"/>
              <a:t>снижать затраты бизнеса.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Для удобства использования облака разделены на сервисные модели.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83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6FF8B-C894-72D6-92B4-626D655E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/>
              <a:t>Что такое </a:t>
            </a:r>
            <a:r>
              <a:rPr lang="en-US" sz="3600"/>
              <a:t>Cloud Computing</a:t>
            </a:r>
          </a:p>
        </p:txBody>
      </p:sp>
      <p:pic>
        <p:nvPicPr>
          <p:cNvPr id="3074" name="Picture 2" descr="What is Cloud Computing?">
            <a:extLst>
              <a:ext uri="{FF2B5EF4-FFF2-40B4-BE49-F238E27FC236}">
                <a16:creationId xmlns:a16="http://schemas.microsoft.com/office/drawing/2014/main" id="{06C61C30-C1AC-C534-98BF-408EC2F38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" r="4804"/>
          <a:stretch>
            <a:fillRect/>
          </a:stretch>
        </p:blipFill>
        <p:spPr bwMode="auto">
          <a:xfrm>
            <a:off x="0" y="914399"/>
            <a:ext cx="6657254" cy="535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B251-0E60-357C-2D8A-8AEFB5BAD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/>
              <a:t>Cloud Computing</a:t>
            </a:r>
            <a:r>
              <a:rPr lang="en-US" sz="1400" dirty="0"/>
              <a:t> — </a:t>
            </a:r>
            <a:r>
              <a:rPr lang="ru-RU" sz="1400" dirty="0"/>
              <a:t>это предоставление вычислительных ресурсов через интернет по требованию.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Основные характеристики: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доступ из любой точки мира;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масштабируемость;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оплата по модели </a:t>
            </a:r>
            <a:r>
              <a:rPr lang="en-US" sz="1400" dirty="0"/>
              <a:t>Pay-as-you-go;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высокая доступность сервисов.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Примеры ресурсов: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серверы,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базы данных,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хранилища,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приложения.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6228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1AF4F-8446-9321-11D6-E54716BE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ru-RU" dirty="0"/>
              <a:t>Модели облачных сервисов</a:t>
            </a:r>
            <a:endParaRPr lang="en-US" dirty="0"/>
          </a:p>
        </p:txBody>
      </p:sp>
      <p:pic>
        <p:nvPicPr>
          <p:cNvPr id="1026" name="Picture 2" descr="SaaS vs PaaS vs IaaS: What Are the Differences &amp; What to Know - TagoIO">
            <a:extLst>
              <a:ext uri="{FF2B5EF4-FFF2-40B4-BE49-F238E27FC236}">
                <a16:creationId xmlns:a16="http://schemas.microsoft.com/office/drawing/2014/main" id="{A482E3FE-FC13-35E8-FE85-D46A49A75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256287"/>
            <a:ext cx="5637935" cy="37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C2B9-92A3-FCF0-66F4-E3EF461D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/>
              <a:t>Существует 3 основные модели: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✅ </a:t>
            </a:r>
            <a:r>
              <a:rPr lang="en-US" b="1" dirty="0"/>
              <a:t>IaaS — Infrastructure as a Service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PaaS — Platform as a Service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SaaS — Software as a Service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Главное различие — </a:t>
            </a:r>
            <a:r>
              <a:rPr lang="ru-RU" b="1" dirty="0"/>
              <a:t>кто управляет системой</a:t>
            </a:r>
            <a:r>
              <a:rPr lang="ru-RU" dirty="0"/>
              <a:t>:</a:t>
            </a:r>
          </a:p>
          <a:p>
            <a:pPr>
              <a:lnSpc>
                <a:spcPct val="110000"/>
              </a:lnSpc>
            </a:pPr>
            <a:r>
              <a:rPr lang="ru-RU" dirty="0"/>
              <a:t>пользователь</a:t>
            </a:r>
          </a:p>
          <a:p>
            <a:pPr>
              <a:lnSpc>
                <a:spcPct val="110000"/>
              </a:lnSpc>
            </a:pPr>
            <a:r>
              <a:rPr lang="ru-RU" dirty="0"/>
              <a:t>или облачный провайдер.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15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21" name="Rectangle 212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2054" name="Picture 6" descr="6+ Thousand Agile Devops Royalty-Free Images, Stock Photos &amp; Pictures |  Shutterstock">
            <a:extLst>
              <a:ext uri="{FF2B5EF4-FFF2-40B4-BE49-F238E27FC236}">
                <a16:creationId xmlns:a16="http://schemas.microsoft.com/office/drawing/2014/main" id="{24652D32-AE1D-4C6B-DF71-DAFC964C9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9" r="7014"/>
          <a:stretch>
            <a:fillRect/>
          </a:stretch>
        </p:blipFill>
        <p:spPr bwMode="auto">
          <a:xfrm>
            <a:off x="-4704" y="10"/>
            <a:ext cx="56967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3" name="Rectangle 2122">
            <a:extLst>
              <a:ext uri="{FF2B5EF4-FFF2-40B4-BE49-F238E27FC236}">
                <a16:creationId xmlns:a16="http://schemas.microsoft.com/office/drawing/2014/main" id="{F7017262-EEEC-4F5E-917D-A55E68A1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0375" y="-480370"/>
            <a:ext cx="4735963" cy="569671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55387-5194-CAF7-D857-9FD22767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9" y="1371601"/>
            <a:ext cx="4023360" cy="267148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IaaS (Infrastructure as a Service)</a:t>
            </a:r>
          </a:p>
        </p:txBody>
      </p:sp>
      <p:cxnSp>
        <p:nvCxnSpPr>
          <p:cNvPr id="2125" name="Straight Connector 2124">
            <a:extLst>
              <a:ext uri="{FF2B5EF4-FFF2-40B4-BE49-F238E27FC236}">
                <a16:creationId xmlns:a16="http://schemas.microsoft.com/office/drawing/2014/main" id="{9A3EDAAA-869E-4AA2-A7CE-BF2C0259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18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0" name="Content Placeholder 2">
            <a:extLst>
              <a:ext uri="{FF2B5EF4-FFF2-40B4-BE49-F238E27FC236}">
                <a16:creationId xmlns:a16="http://schemas.microsoft.com/office/drawing/2014/main" id="{5CDC2DEE-C001-E7CE-5343-5D6B27317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233" y="253762"/>
            <a:ext cx="5288049" cy="622019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IaaS </a:t>
            </a:r>
            <a:r>
              <a:rPr lang="ru-RU" sz="1400" dirty="0"/>
              <a:t>предоставляет базовую </a:t>
            </a:r>
            <a:r>
              <a:rPr lang="en-US" sz="1400" dirty="0"/>
              <a:t>IT-</a:t>
            </a:r>
            <a:r>
              <a:rPr lang="ru-RU" sz="1400" dirty="0"/>
              <a:t>инфраструктуру.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Пользователь получает: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виртуальные серверы,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сети,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хранилище данных.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Пользователь управляет: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ОС,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приложениями,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настройками.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📌 </a:t>
            </a:r>
            <a:r>
              <a:rPr lang="ru-RU" sz="1400" dirty="0"/>
              <a:t>Примеры: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Amazon EC2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Microsoft Azure Virtual Machines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Google Compute Engine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400" dirty="0"/>
              <a:t>Используется: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DevOps,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тестовые среды,</a:t>
            </a:r>
          </a:p>
          <a:p>
            <a:pPr>
              <a:lnSpc>
                <a:spcPct val="110000"/>
              </a:lnSpc>
            </a:pPr>
            <a:r>
              <a:rPr lang="ru-RU" sz="1400" dirty="0"/>
              <a:t>хостинг систем.</a:t>
            </a:r>
          </a:p>
        </p:txBody>
      </p:sp>
    </p:spTree>
    <p:extLst>
      <p:ext uri="{BB962C8B-B14F-4D97-AF65-F5344CB8AC3E}">
        <p14:creationId xmlns:p14="http://schemas.microsoft.com/office/powerpoint/2010/main" val="178804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6EA17-AA16-2F66-46DF-F8890894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169924"/>
            <a:ext cx="4306824" cy="1984094"/>
          </a:xfrm>
        </p:spPr>
        <p:txBody>
          <a:bodyPr anchor="b">
            <a:normAutofit/>
          </a:bodyPr>
          <a:lstStyle/>
          <a:p>
            <a:r>
              <a:rPr lang="en-US"/>
              <a:t>PaaS (Platform as a Service)</a:t>
            </a:r>
            <a:endParaRPr lang="en-US" dirty="0"/>
          </a:p>
        </p:txBody>
      </p:sp>
      <p:cxnSp>
        <p:nvCxnSpPr>
          <p:cNvPr id="4110" name="Straight Connector 4109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Exploring Platform-as-a-Service (PaaS) and its Types • CloudSigma">
            <a:extLst>
              <a:ext uri="{FF2B5EF4-FFF2-40B4-BE49-F238E27FC236}">
                <a16:creationId xmlns:a16="http://schemas.microsoft.com/office/drawing/2014/main" id="{47F26E3C-A071-DCD1-69D6-C8AB35036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8" r="4989" b="2"/>
          <a:stretch>
            <a:fillRect/>
          </a:stretch>
        </p:blipFill>
        <p:spPr bwMode="auto">
          <a:xfrm>
            <a:off x="20" y="703983"/>
            <a:ext cx="4946886" cy="313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5839-4DEF-D04E-70A5-73349FAD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665018"/>
            <a:ext cx="5889161" cy="563290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PaaS </a:t>
            </a:r>
            <a:r>
              <a:rPr lang="ru-RU" sz="1600" dirty="0"/>
              <a:t>предоставляет готовую платформу для разработки.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600" dirty="0"/>
              <a:t>Провайдер управляет: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инфраструктурой,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операционной системой,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средой выполнения.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600" dirty="0"/>
              <a:t>Разработчик отвечает только за код.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600" dirty="0"/>
              <a:t>Преимущества: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быстрая разработка,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не нужно администрировать серверы,</a:t>
            </a:r>
          </a:p>
          <a:p>
            <a:pPr>
              <a:lnSpc>
                <a:spcPct val="110000"/>
              </a:lnSpc>
            </a:pPr>
            <a:r>
              <a:rPr lang="ru-RU" sz="1600" dirty="0"/>
              <a:t>автоматическое масштабирование.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📌 </a:t>
            </a:r>
            <a:r>
              <a:rPr lang="ru-RU" sz="1600" dirty="0"/>
              <a:t>Примеры: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Google App Engine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Heroku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Azure App Services</a:t>
            </a:r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354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62F7-E260-EBF5-207C-CC6E09CB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SaaS (Software as a Service)</a:t>
            </a:r>
            <a:endParaRPr lang="en-US"/>
          </a:p>
        </p:txBody>
      </p:sp>
      <p:pic>
        <p:nvPicPr>
          <p:cNvPr id="5" name="Picture 4" descr="A black and white image of a person and a computer&#10;&#10;AI-generated content may be incorrect.">
            <a:extLst>
              <a:ext uri="{FF2B5EF4-FFF2-40B4-BE49-F238E27FC236}">
                <a16:creationId xmlns:a16="http://schemas.microsoft.com/office/drawing/2014/main" id="{42DEB65E-E80B-1139-1DED-E9F5E2B90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36141"/>
            <a:ext cx="5295901" cy="266086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8EBF-2622-2608-DF59-F6B3F33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622" y="914400"/>
            <a:ext cx="4763387" cy="5383523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/>
              <a:t>SaaS — </a:t>
            </a:r>
            <a:r>
              <a:rPr lang="ru-RU" sz="1700"/>
              <a:t>готовые приложения через интернет.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700"/>
              <a:t>Пользователь:</a:t>
            </a:r>
          </a:p>
          <a:p>
            <a:pPr>
              <a:lnSpc>
                <a:spcPct val="110000"/>
              </a:lnSpc>
            </a:pPr>
            <a:r>
              <a:rPr lang="ru-RU" sz="1700"/>
              <a:t>просто использует программу,</a:t>
            </a:r>
          </a:p>
          <a:p>
            <a:pPr>
              <a:lnSpc>
                <a:spcPct val="110000"/>
              </a:lnSpc>
            </a:pPr>
            <a:r>
              <a:rPr lang="ru-RU" sz="1700"/>
              <a:t>не устанавливает ПО.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700"/>
              <a:t>Примеры:</a:t>
            </a:r>
          </a:p>
          <a:p>
            <a:pPr>
              <a:lnSpc>
                <a:spcPct val="110000"/>
              </a:lnSpc>
            </a:pPr>
            <a:r>
              <a:rPr lang="en-US" sz="1700"/>
              <a:t>Google Docs</a:t>
            </a:r>
          </a:p>
          <a:p>
            <a:pPr>
              <a:lnSpc>
                <a:spcPct val="110000"/>
              </a:lnSpc>
            </a:pPr>
            <a:r>
              <a:rPr lang="en-US" sz="1700"/>
              <a:t>Microsoft 365</a:t>
            </a:r>
          </a:p>
          <a:p>
            <a:pPr>
              <a:lnSpc>
                <a:spcPct val="110000"/>
              </a:lnSpc>
            </a:pPr>
            <a:r>
              <a:rPr lang="en-US" sz="1700"/>
              <a:t>Dropbox</a:t>
            </a:r>
          </a:p>
          <a:p>
            <a:pPr>
              <a:lnSpc>
                <a:spcPct val="110000"/>
              </a:lnSpc>
            </a:pPr>
            <a:r>
              <a:rPr lang="en-US" sz="1700"/>
              <a:t>Salesforce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1700"/>
              <a:t>Преимущества:</a:t>
            </a:r>
          </a:p>
          <a:p>
            <a:pPr>
              <a:lnSpc>
                <a:spcPct val="110000"/>
              </a:lnSpc>
            </a:pPr>
            <a:r>
              <a:rPr lang="ru-RU" sz="1700"/>
              <a:t>доступ из браузера,</a:t>
            </a:r>
          </a:p>
          <a:p>
            <a:pPr>
              <a:lnSpc>
                <a:spcPct val="110000"/>
              </a:lnSpc>
            </a:pPr>
            <a:r>
              <a:rPr lang="ru-RU" sz="1700"/>
              <a:t>автоматические обновления,</a:t>
            </a:r>
          </a:p>
          <a:p>
            <a:pPr>
              <a:lnSpc>
                <a:spcPct val="110000"/>
              </a:lnSpc>
            </a:pPr>
            <a:r>
              <a:rPr lang="ru-RU" sz="1700"/>
              <a:t>отсутствие установки.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341969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5CD44-4D49-6FF3-694E-99988C52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Сравнение моделей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146BE-8E79-6D84-ECD6-AFB89791E615}"/>
              </a:ext>
            </a:extLst>
          </p:cNvPr>
          <p:cNvSpPr txBox="1"/>
          <p:nvPr/>
        </p:nvSpPr>
        <p:spPr>
          <a:xfrm>
            <a:off x="640080" y="4130979"/>
            <a:ext cx="2983229" cy="11602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500" b="1" cap="all" spc="300"/>
              <a:t>Чем выше уровень — тем меньше технической ответственности.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1655C7-5D53-24B8-10C3-6742BBF71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861787"/>
              </p:ext>
            </p:extLst>
          </p:nvPr>
        </p:nvGraphicFramePr>
        <p:xfrm>
          <a:off x="4229100" y="1632411"/>
          <a:ext cx="7290649" cy="353360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663759">
                  <a:extLst>
                    <a:ext uri="{9D8B030D-6E8A-4147-A177-3AD203B41FA5}">
                      <a16:colId xmlns:a16="http://schemas.microsoft.com/office/drawing/2014/main" val="2897186714"/>
                    </a:ext>
                  </a:extLst>
                </a:gridCol>
                <a:gridCol w="3024471">
                  <a:extLst>
                    <a:ext uri="{9D8B030D-6E8A-4147-A177-3AD203B41FA5}">
                      <a16:colId xmlns:a16="http://schemas.microsoft.com/office/drawing/2014/main" val="3151008967"/>
                    </a:ext>
                  </a:extLst>
                </a:gridCol>
                <a:gridCol w="2602419">
                  <a:extLst>
                    <a:ext uri="{9D8B030D-6E8A-4147-A177-3AD203B41FA5}">
                      <a16:colId xmlns:a16="http://schemas.microsoft.com/office/drawing/2014/main" val="3158901398"/>
                    </a:ext>
                  </a:extLst>
                </a:gridCol>
              </a:tblGrid>
              <a:tr h="5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Модель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Кто управляет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Для кого</a:t>
                      </a:r>
                    </a:p>
                  </a:txBody>
                  <a:tcPr marL="132842" marR="132842" marT="66421" marB="66421" anchor="ctr"/>
                </a:tc>
                <a:extLst>
                  <a:ext uri="{0D108BD9-81ED-4DB2-BD59-A6C34878D82A}">
                    <a16:rowId xmlns:a16="http://schemas.microsoft.com/office/drawing/2014/main" val="3976577154"/>
                  </a:ext>
                </a:extLst>
              </a:tr>
              <a:tr h="98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IaaS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Пользователь почти всем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Инженеры, </a:t>
                      </a:r>
                      <a:r>
                        <a:rPr lang="en-US" sz="2600"/>
                        <a:t>DevOps</a:t>
                      </a:r>
                    </a:p>
                  </a:txBody>
                  <a:tcPr marL="132842" marR="132842" marT="66421" marB="66421" anchor="ctr"/>
                </a:tc>
                <a:extLst>
                  <a:ext uri="{0D108BD9-81ED-4DB2-BD59-A6C34878D82A}">
                    <a16:rowId xmlns:a16="http://schemas.microsoft.com/office/drawing/2014/main" val="1045526939"/>
                  </a:ext>
                </a:extLst>
              </a:tr>
              <a:tr h="98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PaaS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Делится управление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Разработчики</a:t>
                      </a:r>
                    </a:p>
                  </a:txBody>
                  <a:tcPr marL="132842" marR="132842" marT="66421" marB="66421" anchor="ctr"/>
                </a:tc>
                <a:extLst>
                  <a:ext uri="{0D108BD9-81ED-4DB2-BD59-A6C34878D82A}">
                    <a16:rowId xmlns:a16="http://schemas.microsoft.com/office/drawing/2014/main" val="803879724"/>
                  </a:ext>
                </a:extLst>
              </a:tr>
              <a:tr h="983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SaaS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Провайдер всем</a:t>
                      </a:r>
                    </a:p>
                  </a:txBody>
                  <a:tcPr marL="132842" marR="132842" marT="66421" marB="66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600"/>
                        <a:t>Обычные пользователи</a:t>
                      </a:r>
                    </a:p>
                  </a:txBody>
                  <a:tcPr marL="132842" marR="132842" marT="66421" marB="66421" anchor="ctr"/>
                </a:tc>
                <a:extLst>
                  <a:ext uri="{0D108BD9-81ED-4DB2-BD59-A6C34878D82A}">
                    <a16:rowId xmlns:a16="http://schemas.microsoft.com/office/drawing/2014/main" val="2209340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10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4" name="Rectangle 718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34C83-742E-6A6B-74F4-9711C440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400" dirty="0"/>
              <a:t>Практическое применение</a:t>
            </a:r>
            <a:endParaRPr lang="en-US" sz="3400" dirty="0"/>
          </a:p>
        </p:txBody>
      </p:sp>
      <p:cxnSp>
        <p:nvCxnSpPr>
          <p:cNvPr id="7186" name="Straight Connector 7185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A6ACD-AA6D-A268-E794-F4BF3E353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900" dirty="0"/>
              <a:t>Облака используются в:</a:t>
            </a:r>
          </a:p>
          <a:p>
            <a:r>
              <a:rPr lang="en-US" sz="1900" dirty="0"/>
              <a:t>Netflix — </a:t>
            </a:r>
            <a:r>
              <a:rPr lang="ru-RU" sz="1900" dirty="0"/>
              <a:t>стриминг и хранение данных</a:t>
            </a:r>
          </a:p>
          <a:p>
            <a:r>
              <a:rPr lang="en-US" sz="1900" dirty="0"/>
              <a:t>Uber — </a:t>
            </a:r>
            <a:r>
              <a:rPr lang="ru-RU" sz="1900" dirty="0"/>
              <a:t>обработка запросов в реальном времени</a:t>
            </a:r>
          </a:p>
          <a:p>
            <a:r>
              <a:rPr lang="ru-RU" sz="1900" dirty="0"/>
              <a:t>Онлайн-банкинг</a:t>
            </a:r>
          </a:p>
          <a:p>
            <a:r>
              <a:rPr lang="ru-RU" sz="1900" dirty="0"/>
              <a:t>Образовательные платформы</a:t>
            </a:r>
          </a:p>
          <a:p>
            <a:r>
              <a:rPr lang="ru-RU" sz="1900" dirty="0"/>
              <a:t>Мобильные приложения</a:t>
            </a:r>
          </a:p>
          <a:p>
            <a:pPr marL="0" indent="0">
              <a:buNone/>
            </a:pPr>
            <a:r>
              <a:rPr lang="ru-RU" sz="1900" dirty="0"/>
              <a:t>Даже обычные пользователи ежедневно используют </a:t>
            </a:r>
            <a:r>
              <a:rPr lang="en-US" sz="1900" dirty="0"/>
              <a:t>SaaS-</a:t>
            </a:r>
            <a:r>
              <a:rPr lang="ru-RU" sz="1900" dirty="0"/>
              <a:t>сервисы.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7174" name="Picture 6" descr="Netflix logo minimal simple design template on transparent background PNG |  SimilarPNG">
            <a:extLst>
              <a:ext uri="{FF2B5EF4-FFF2-40B4-BE49-F238E27FC236}">
                <a16:creationId xmlns:a16="http://schemas.microsoft.com/office/drawing/2014/main" id="{E75399FA-978C-1865-3FFC-08D7928B5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179" y="1491612"/>
            <a:ext cx="4375829" cy="480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29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2B8BF-0BC4-EDAD-6F11-C7040B0C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ru-RU" sz="3600"/>
              <a:t>Заключение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4D034-F178-C953-1CAD-5D83C2444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/>
              <a:t>Выводы:</a:t>
            </a:r>
            <a:endParaRPr lang="ru-RU"/>
          </a:p>
          <a:p>
            <a:pPr>
              <a:lnSpc>
                <a:spcPct val="110000"/>
              </a:lnSpc>
            </a:pPr>
            <a:r>
              <a:rPr lang="ru-RU" dirty="0"/>
              <a:t>Облачные технологии изменили подход к </a:t>
            </a:r>
            <a:r>
              <a:rPr lang="en-US" dirty="0"/>
              <a:t>IT-</a:t>
            </a:r>
            <a:r>
              <a:rPr lang="ru-RU" dirty="0"/>
              <a:t>инфраструктуре.</a:t>
            </a:r>
            <a:endParaRPr lang="ru-RU"/>
          </a:p>
          <a:p>
            <a:pPr>
              <a:lnSpc>
                <a:spcPct val="110000"/>
              </a:lnSpc>
            </a:pPr>
            <a:r>
              <a:rPr lang="en-US" dirty="0"/>
              <a:t>IaaS, PaaS </a:t>
            </a:r>
            <a:r>
              <a:rPr lang="ru-RU" dirty="0"/>
              <a:t>и </a:t>
            </a:r>
            <a:r>
              <a:rPr lang="en-US" dirty="0"/>
              <a:t>SaaS </a:t>
            </a:r>
            <a:r>
              <a:rPr lang="ru-RU" dirty="0"/>
              <a:t>предоставляют разные уровни управления.</a:t>
            </a:r>
            <a:endParaRPr lang="ru-RU"/>
          </a:p>
          <a:p>
            <a:pPr>
              <a:lnSpc>
                <a:spcPct val="110000"/>
              </a:lnSpc>
            </a:pPr>
            <a:r>
              <a:rPr lang="ru-RU" dirty="0"/>
              <a:t>Компании выбирают модель в зависимости от задач.</a:t>
            </a:r>
            <a:endParaRPr lang="ru-RU"/>
          </a:p>
          <a:p>
            <a:pPr>
              <a:lnSpc>
                <a:spcPct val="110000"/>
              </a:lnSpc>
            </a:pPr>
            <a:r>
              <a:rPr lang="ru-RU" dirty="0"/>
              <a:t>Облака позволяют быстрее развивать цифровые сервисы.</a:t>
            </a:r>
            <a:endParaRPr lang="ru-RU"/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  <p:pic>
        <p:nvPicPr>
          <p:cNvPr id="8194" name="Picture 2" descr="6,478 Conclusion Concept Stock Vectors and Vector Art | Shutterstock">
            <a:extLst>
              <a:ext uri="{FF2B5EF4-FFF2-40B4-BE49-F238E27FC236}">
                <a16:creationId xmlns:a16="http://schemas.microsoft.com/office/drawing/2014/main" id="{A90D57A4-83C2-6ABF-49F7-13AD34A74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r="9798" b="1"/>
          <a:stretch>
            <a:fillRect/>
          </a:stretch>
        </p:blipFill>
        <p:spPr bwMode="auto">
          <a:xfrm>
            <a:off x="5671128" y="914399"/>
            <a:ext cx="6520872" cy="535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01" name="Straight Connector 820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50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9" name="Picture 3" descr="Blue Cloud Minimalist Pattern Cloud Data Cloud Computing, Communication,  Business, Computer PNG Transparent Image and Clipart for Free Download">
            <a:extLst>
              <a:ext uri="{FF2B5EF4-FFF2-40B4-BE49-F238E27FC236}">
                <a16:creationId xmlns:a16="http://schemas.microsoft.com/office/drawing/2014/main" id="{0D9F5AEB-BA1A-D11C-F8CA-74CD20584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2" b="18838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9226" name="Rectangle 9225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985D4-99A1-FD6B-0EBC-5DBE28B3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cxnSp>
        <p:nvCxnSpPr>
          <p:cNvPr id="9228" name="Straight Connector 9227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1A52103-5688-1911-C977-7294AD458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9454" y="2662356"/>
            <a:ext cx="4665546" cy="30579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NIST Definition of Cloud Computing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Amazon Web Services Documentation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Microsoft Azure Documentation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Google Cloud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6420498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927</Words>
  <Application>Microsoft Macintosh PowerPoint</Application>
  <PresentationFormat>Widescreen</PresentationFormat>
  <Paragraphs>135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Bierstadt</vt:lpstr>
      <vt:lpstr>Grandview Display</vt:lpstr>
      <vt:lpstr>DashVTI</vt:lpstr>
      <vt:lpstr>Модели сервисов в облачных вычислениях: IaaS, PaaS, SaaS</vt:lpstr>
      <vt:lpstr>Введение (Актуальность)</vt:lpstr>
      <vt:lpstr>Что такое Cloud Computing</vt:lpstr>
      <vt:lpstr>Модели облачных сервисов</vt:lpstr>
      <vt:lpstr>IaaS (Infrastructure as a Service)</vt:lpstr>
      <vt:lpstr>PaaS (Platform as a Service)</vt:lpstr>
      <vt:lpstr>SaaS (Software as a Service)</vt:lpstr>
      <vt:lpstr>Сравнение моделей</vt:lpstr>
      <vt:lpstr>Практическое применение</vt:lpstr>
      <vt:lpstr>Заключение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Gutul</dc:creator>
  <cp:lastModifiedBy>Alina Gutul</cp:lastModifiedBy>
  <cp:revision>2</cp:revision>
  <dcterms:created xsi:type="dcterms:W3CDTF">2026-02-23T08:31:34Z</dcterms:created>
  <dcterms:modified xsi:type="dcterms:W3CDTF">2026-02-23T09:02:36Z</dcterms:modified>
</cp:coreProperties>
</file>